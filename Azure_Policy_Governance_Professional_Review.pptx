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73" r:id="rId10"/>
    <p:sldId id="274" r:id="rId11"/>
    <p:sldId id="275" r:id="rId12"/>
    <p:sldId id="263" r:id="rId13"/>
    <p:sldId id="264" r:id="rId14"/>
    <p:sldId id="265" r:id="rId15"/>
    <p:sldId id="266" r:id="rId16"/>
    <p:sldId id="267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3" name="Connector 2"/>
          <p:cNvCxnSpPr/>
          <p:nvPr/>
        </p:nvCxnSpPr>
        <p:spPr>
          <a:xfrm>
            <a:off x="8778240" y="640080"/>
            <a:ext cx="0" cy="539496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692640" y="640080"/>
            <a:ext cx="0" cy="539496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07040" y="640080"/>
            <a:ext cx="0" cy="539496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21440" y="640080"/>
            <a:ext cx="0" cy="539496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29600" y="1097280"/>
            <a:ext cx="3749040" cy="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229600" y="2011680"/>
            <a:ext cx="3749040" cy="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29600" y="2926080"/>
            <a:ext cx="3749040" cy="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3840480"/>
            <a:ext cx="3749040" cy="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4754880"/>
            <a:ext cx="3749040" cy="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5669280"/>
            <a:ext cx="3749040" cy="0"/>
          </a:xfrm>
          <a:prstGeom prst="line">
            <a:avLst/>
          </a:prstGeom>
          <a:ln w="10160">
            <a:solidFill>
              <a:srgbClr val="14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8368" y="749808"/>
            <a:ext cx="566928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1051560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BCF2"/>
                </a:solidFill>
                <a:latin typeface="Aptos"/>
              </a:defRPr>
            </a:pPr>
            <a:r>
              <a:t>CLOUD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572768"/>
            <a:ext cx="7498079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rPr dirty="0"/>
              <a:t>Azure Policy Governance</a:t>
            </a:r>
            <a:br>
              <a:rPr dirty="0"/>
            </a:br>
            <a:r>
              <a:rPr dirty="0"/>
              <a:t>for Resource Tagging &amp; Regions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90672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CFDCEA"/>
                </a:solidFill>
                <a:latin typeface="Aptos"/>
              </a:defRPr>
            </a:pPr>
            <a:r>
              <a:t>A governance architecture for controlling resource locations, enforcing CostCenter metadata, and remediating non-compliance.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0" y="1874519"/>
            <a:ext cx="1097280" cy="10972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P</a:t>
            </a:r>
          </a:p>
        </p:txBody>
      </p:sp>
      <p:sp>
        <p:nvSpPr>
          <p:cNvPr id="23" name="Oval 22"/>
          <p:cNvSpPr/>
          <p:nvPr/>
        </p:nvSpPr>
        <p:spPr>
          <a:xfrm>
            <a:off x="10469880" y="2971800"/>
            <a:ext cx="1097280" cy="1097280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</a:t>
            </a:r>
          </a:p>
        </p:txBody>
      </p:sp>
      <p:sp>
        <p:nvSpPr>
          <p:cNvPr id="24" name="Oval 23"/>
          <p:cNvSpPr/>
          <p:nvPr/>
        </p:nvSpPr>
        <p:spPr>
          <a:xfrm>
            <a:off x="9098280" y="4160520"/>
            <a:ext cx="1097280" cy="1097280"/>
          </a:xfrm>
          <a:prstGeom prst="ellipse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12680" y="2514600"/>
            <a:ext cx="457200" cy="457200"/>
          </a:xfrm>
          <a:prstGeom prst="line">
            <a:avLst/>
          </a:prstGeom>
          <a:ln w="25400">
            <a:solidFill>
              <a:srgbClr val="329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0012680" y="4069080"/>
            <a:ext cx="457200" cy="365760"/>
          </a:xfrm>
          <a:prstGeom prst="line">
            <a:avLst/>
          </a:prstGeom>
          <a:ln w="2540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44000" y="2971800"/>
            <a:ext cx="0" cy="1188720"/>
          </a:xfrm>
          <a:prstGeom prst="line">
            <a:avLst/>
          </a:prstGeom>
          <a:ln w="25400">
            <a:solidFill>
              <a:srgbClr val="2D9C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641080" y="544068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POLICY  •  TAGS  •  REGIONS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CF4879-4C0B-5921-F1A8-E2AD612312E7}"/>
              </a:ext>
            </a:extLst>
          </p:cNvPr>
          <p:cNvSpPr txBox="1"/>
          <p:nvPr/>
        </p:nvSpPr>
        <p:spPr>
          <a:xfrm>
            <a:off x="850232" y="4160520"/>
            <a:ext cx="5694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Our Team: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8E6A51-3713-CD0E-DAE5-1E828282CE23}"/>
              </a:ext>
            </a:extLst>
          </p:cNvPr>
          <p:cNvSpPr txBox="1"/>
          <p:nvPr/>
        </p:nvSpPr>
        <p:spPr>
          <a:xfrm>
            <a:off x="964940" y="4622420"/>
            <a:ext cx="54456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2400030143-Jitendra.D</a:t>
            </a:r>
          </a:p>
          <a:p>
            <a:r>
              <a:rPr lang="en-US" sz="2400" dirty="0">
                <a:solidFill>
                  <a:schemeClr val="bg1"/>
                </a:solidFill>
              </a:rPr>
              <a:t>2400030209-Sudhendra Sivanadh.Y</a:t>
            </a:r>
          </a:p>
          <a:p>
            <a:r>
              <a:rPr lang="en-US" sz="2400" dirty="0">
                <a:solidFill>
                  <a:schemeClr val="bg1"/>
                </a:solidFill>
              </a:rPr>
              <a:t>2400030219-Chanikya Venkata Siva sri.P</a:t>
            </a:r>
          </a:p>
          <a:p>
            <a:r>
              <a:rPr lang="en-US" sz="2400" dirty="0">
                <a:solidFill>
                  <a:schemeClr val="bg1"/>
                </a:solidFill>
              </a:rPr>
              <a:t>24002086-Harshitha.V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01 •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What problem are we solving?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3520440" cy="347472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0292" cy="3474720"/>
          </a:xfrm>
          <a:prstGeom prst="rect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158191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C1C30"/>
                </a:solidFill>
                <a:latin typeface="Aptos"/>
              </a:defRPr>
            </a:pPr>
            <a:r>
              <a:t>01  Region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011680"/>
            <a:ext cx="3154680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323F"/>
                </a:solidFill>
                <a:latin typeface="Aptos"/>
              </a:defRPr>
            </a:pPr>
            <a:r>
              <a:rPr dirty="0"/>
              <a:t>Resources must be created only in approved Azure regions.</a:t>
            </a:r>
            <a:br>
              <a:rPr dirty="0"/>
            </a:br>
            <a:br>
              <a:rPr dirty="0"/>
            </a:br>
            <a:r>
              <a:rPr dirty="0"/>
              <a:t>A deployment outside the approved list should be blocked at deployment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520440" cy="347472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50292" cy="347472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58191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C1C30"/>
                </a:solidFill>
                <a:latin typeface="Aptos"/>
              </a:defRPr>
            </a:pPr>
            <a:r>
              <a:t>02  CostCenter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154680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323F"/>
                </a:solidFill>
                <a:latin typeface="Aptos"/>
              </a:defRPr>
            </a:pPr>
            <a:r>
              <a:t>Resources should carry a valid CostCenter tag so ownership and cloud spend can be associated with the right project or department.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17320"/>
            <a:ext cx="3520440" cy="3474720"/>
          </a:xfrm>
          <a:prstGeom prst="roundRect">
            <a:avLst/>
          </a:prstGeom>
          <a:solidFill>
            <a:srgbClr val="FDF6E8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417320"/>
            <a:ext cx="50292" cy="3474720"/>
          </a:xfrm>
          <a:prstGeom prst="rect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58191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C1C30"/>
                </a:solidFill>
                <a:latin typeface="Aptos"/>
              </a:defRPr>
            </a:pPr>
            <a:r>
              <a:t>03  Governance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3154680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323F"/>
                </a:solidFill>
                <a:latin typeface="Aptos"/>
              </a:defRPr>
            </a:pPr>
            <a:r>
              <a:t>Existing resources may already be non-compliant, and strict controls can create friction for legitimate urgent deployments.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28523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C1C30"/>
                </a:solidFill>
                <a:latin typeface="Aptos"/>
              </a:defRPr>
            </a:pPr>
            <a:r>
              <a:t>The project therefore needs both  •  prevention  •  visibility  •  remediation  •  controlled exceptions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02 •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Azure Policy in one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874519"/>
            <a:ext cx="1051560" cy="10515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6324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C1C30"/>
                </a:solidFill>
                <a:latin typeface="Aptos"/>
              </a:defRPr>
            </a:pPr>
            <a:r>
              <a:t>Policy</a:t>
            </a:r>
            <a:br/>
            <a:r>
              <a:t>Definition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2395728"/>
            <a:ext cx="114300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80360" y="1874519"/>
            <a:ext cx="1051560" cy="1051560"/>
          </a:xfrm>
          <a:prstGeom prst="ellipse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6324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C1C30"/>
                </a:solidFill>
                <a:latin typeface="Aptos"/>
              </a:defRPr>
            </a:pPr>
            <a:r>
              <a:t>Assignment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2395728"/>
            <a:ext cx="114300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74920" y="1874519"/>
            <a:ext cx="1051560" cy="1051560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6324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C1C30"/>
                </a:solidFill>
                <a:latin typeface="Aptos"/>
              </a:defRPr>
            </a:pPr>
            <a:r>
              <a:t>Evaluation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79" y="2395728"/>
            <a:ext cx="1143001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269480" y="1874519"/>
            <a:ext cx="1051560" cy="1051560"/>
          </a:xfrm>
          <a:prstGeom prst="ellipse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06324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C1C30"/>
                </a:solidFill>
                <a:latin typeface="Aptos"/>
              </a:defRPr>
            </a:pPr>
            <a:r>
              <a:t>Effect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21040" y="2395728"/>
            <a:ext cx="114300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64040" y="1874519"/>
            <a:ext cx="1051560" cy="1051560"/>
          </a:xfrm>
          <a:prstGeom prst="ellipse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06324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C1C30"/>
                </a:solidFill>
                <a:latin typeface="Aptos"/>
              </a:defRPr>
            </a:pPr>
            <a:r>
              <a:t>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160520"/>
            <a:ext cx="3108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4160520"/>
            <a:ext cx="50292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43251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754880"/>
            <a:ext cx="27432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The rule: IF a resource matches a condition, apply an effect.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4160520"/>
            <a:ext cx="3108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26280" y="4160520"/>
            <a:ext cx="50292" cy="1143000"/>
          </a:xfrm>
          <a:prstGeom prst="rect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09160" y="43251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Assignment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754880"/>
            <a:ext cx="27432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Attach the rule to a management group, subscription, resource group or resource.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160520"/>
            <a:ext cx="3108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4160520"/>
            <a:ext cx="50292" cy="114300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43251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Effect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754880"/>
            <a:ext cx="27432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Examples: Deny, Audit, Modify, DeployIfNotExists.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rPr sz="2000" dirty="0"/>
              <a:t>03 • USE CASE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rPr dirty="0"/>
              <a:t>Deny resource creation outside approved regions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5029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Aptos"/>
              </a:defRPr>
            </a:pPr>
            <a:r>
              <a:rPr sz="2000" dirty="0"/>
              <a:t>Business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0C1C30"/>
                </a:solidFill>
                <a:latin typeface="Aptos"/>
              </a:defRPr>
            </a:pPr>
            <a:r>
              <a:t>“Only approved Azure regions may host governed resources.”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323F"/>
                </a:solidFill>
                <a:latin typeface="Aptos"/>
              </a:defRPr>
            </a:pPr>
            <a:r>
              <a:t>•  Create a parameterized list of approved locations.</a:t>
            </a:r>
          </a:p>
          <a:p>
            <a:pPr>
              <a:spcAft>
                <a:spcPts val="800"/>
              </a:spcAft>
              <a:defRPr sz="1600">
                <a:solidFill>
                  <a:srgbClr val="26323F"/>
                </a:solidFill>
                <a:latin typeface="Aptos"/>
              </a:defRPr>
            </a:pPr>
            <a:r>
              <a:t>•  Evaluate the resource location during deployment.</a:t>
            </a:r>
          </a:p>
          <a:p>
            <a:pPr>
              <a:spcAft>
                <a:spcPts val="800"/>
              </a:spcAft>
              <a:defRPr sz="1600">
                <a:solidFill>
                  <a:srgbClr val="26323F"/>
                </a:solidFill>
                <a:latin typeface="Aptos"/>
              </a:defRPr>
            </a:pPr>
            <a:r>
              <a:t>•  If the location is not approved → Deny the request.</a:t>
            </a:r>
          </a:p>
          <a:p>
            <a:pPr>
              <a:spcAft>
                <a:spcPts val="800"/>
              </a:spcAft>
              <a:defRPr sz="1600">
                <a:solidFill>
                  <a:srgbClr val="26323F"/>
                </a:solidFill>
                <a:latin typeface="Aptos"/>
              </a:defRPr>
            </a:pPr>
            <a:r>
              <a:t>•  If the location is approved → deployment can continue.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2148840" cy="960120"/>
          </a:xfrm>
          <a:prstGeom prst="roundRect">
            <a:avLst/>
          </a:prstGeom>
          <a:solidFill>
            <a:srgbClr val="FDF6E8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50292" cy="9601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581912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Developer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1783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VM → Japan East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49640" y="1901952"/>
            <a:ext cx="64008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89720" y="1417320"/>
            <a:ext cx="2331720" cy="96012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89720" y="1417320"/>
            <a:ext cx="50292" cy="960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1581912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Azure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011680"/>
            <a:ext cx="19659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Check location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351008" y="2395728"/>
            <a:ext cx="0" cy="438912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58200" y="2971800"/>
            <a:ext cx="3749039" cy="91440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58200" y="2971800"/>
            <a:ext cx="50292" cy="914400"/>
          </a:xfrm>
          <a:prstGeom prst="rect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41080" y="3136392"/>
            <a:ext cx="3383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C1C30"/>
                </a:solidFill>
                <a:latin typeface="Aptos"/>
              </a:defRPr>
            </a:pPr>
            <a:r>
              <a:t>NOT APPROVED → DENY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566160"/>
            <a:ext cx="3383279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6323F"/>
                </a:solidFill>
                <a:latin typeface="Aptos"/>
              </a:defRPr>
            </a:pPr>
            <a:r>
              <a:t>Deployment is blocked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8366760" y="3886200"/>
            <a:ext cx="914400" cy="54864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400" y="3886200"/>
            <a:ext cx="0" cy="54864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12280" y="4480560"/>
            <a:ext cx="2423160" cy="96012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12280" y="4480560"/>
            <a:ext cx="50292" cy="96012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95160" y="464515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Approved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5074920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Deployment proceeds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38360" y="4480560"/>
            <a:ext cx="2423160" cy="960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738360" y="4480560"/>
            <a:ext cx="50292" cy="960120"/>
          </a:xfrm>
          <a:prstGeom prst="rect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21240" y="464515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5074920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No unauthorized region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rPr sz="2000" dirty="0"/>
              <a:t>USE CASE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rPr dirty="0"/>
              <a:t>Enforce a </a:t>
            </a:r>
            <a:r>
              <a:rPr dirty="0" err="1"/>
              <a:t>CostCenter</a:t>
            </a:r>
            <a:r>
              <a:rPr dirty="0"/>
              <a:t> tag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825" y="1146356"/>
            <a:ext cx="5486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D9C5D"/>
                </a:solidFill>
                <a:latin typeface="Aptos"/>
              </a:defRPr>
            </a:pPr>
            <a:r>
              <a:rPr sz="1600" dirty="0"/>
              <a:t>Why tagging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521208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0C1C30"/>
                </a:solidFill>
                <a:latin typeface="Aptos"/>
              </a:defRPr>
            </a:pPr>
            <a:r>
              <a:rPr sz="2400" dirty="0"/>
              <a:t>Turn resource metadata into usable cost &amp; ownership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23F"/>
                </a:solidFill>
                <a:latin typeface="Aptos"/>
              </a:defRPr>
            </a:pPr>
            <a:r>
              <a:rPr sz="1600" dirty="0"/>
              <a:t>•  Required tag: </a:t>
            </a:r>
            <a:r>
              <a:rPr sz="1600" dirty="0" err="1"/>
              <a:t>CostCenter</a:t>
            </a:r>
            <a:endParaRPr sz="1600" dirty="0"/>
          </a:p>
          <a:p>
            <a:pPr>
              <a:spcAft>
                <a:spcPts val="800"/>
              </a:spcAft>
              <a:defRPr sz="1500">
                <a:solidFill>
                  <a:srgbClr val="26323F"/>
                </a:solidFill>
                <a:latin typeface="Aptos"/>
              </a:defRPr>
            </a:pPr>
            <a:r>
              <a:rPr sz="1600" dirty="0"/>
              <a:t>•  Example values: CSE001, FIN001, HR001</a:t>
            </a:r>
          </a:p>
          <a:p>
            <a:pPr>
              <a:spcAft>
                <a:spcPts val="800"/>
              </a:spcAft>
              <a:defRPr sz="1500">
                <a:solidFill>
                  <a:srgbClr val="26323F"/>
                </a:solidFill>
                <a:latin typeface="Aptos"/>
              </a:defRPr>
            </a:pPr>
            <a:r>
              <a:rPr sz="1600" dirty="0"/>
              <a:t>•  Choose the enforcement method based on how the correct value is known.</a:t>
            </a:r>
          </a:p>
          <a:p>
            <a:pPr>
              <a:spcAft>
                <a:spcPts val="800"/>
              </a:spcAft>
              <a:defRPr sz="1500">
                <a:solidFill>
                  <a:srgbClr val="26323F"/>
                </a:solidFill>
                <a:latin typeface="Aptos"/>
              </a:defRPr>
            </a:pPr>
            <a:r>
              <a:rPr sz="1600" dirty="0"/>
              <a:t>•  Modify is suitable when a trusted source can supply the value.</a:t>
            </a:r>
          </a:p>
          <a:p>
            <a:pPr>
              <a:spcAft>
                <a:spcPts val="800"/>
              </a:spcAft>
              <a:defRPr sz="1500">
                <a:solidFill>
                  <a:srgbClr val="26323F"/>
                </a:solidFill>
                <a:latin typeface="Aptos"/>
              </a:defRPr>
            </a:pPr>
            <a:r>
              <a:rPr sz="1600" dirty="0"/>
              <a:t>•  Deny is suitable when the creator must provide a valid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4983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50292" cy="1051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581912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Resource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61772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VM • Central India • Environment=Prod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87968" y="2468880"/>
            <a:ext cx="0" cy="32004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2788920"/>
            <a:ext cx="4983480" cy="1051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2788920"/>
            <a:ext cx="50292" cy="1051560"/>
          </a:xfrm>
          <a:prstGeom prst="rect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953512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Policy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83279"/>
            <a:ext cx="461772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Is CostCenter present and valid?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35240" y="3840480"/>
            <a:ext cx="0" cy="50292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49840" y="3840480"/>
            <a:ext cx="0" cy="50292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0" y="4389120"/>
            <a:ext cx="2423160" cy="96012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4389120"/>
            <a:ext cx="50292" cy="96012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4553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MODIFY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983480"/>
            <a:ext cx="20574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Add / update tag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4389120"/>
            <a:ext cx="2377440" cy="96012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06840" y="4389120"/>
            <a:ext cx="50292" cy="960120"/>
          </a:xfrm>
          <a:prstGeom prst="rect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9719" y="455371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DENY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4983480"/>
            <a:ext cx="20116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Reject invalid request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rPr sz="2000" dirty="0"/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rPr dirty="0"/>
              <a:t>The two bottlenecks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5331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C1C30"/>
                </a:solidFill>
                <a:latin typeface="Aptos"/>
              </a:defRPr>
            </a:pPr>
            <a:r>
              <a:rPr dirty="0"/>
              <a:t>Strict Deny can block a legitimate urgent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47088"/>
            <a:ext cx="9692640" cy="36317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b="1" dirty="0"/>
              <a:t>Why:</a:t>
            </a:r>
            <a:r>
              <a:rPr lang="en-IN" dirty="0"/>
              <a:t> Strict Deny policies can block legitimate emergency deployments in unapproved regions.</a:t>
            </a:r>
            <a:endParaRPr lang="en-US" dirty="0"/>
          </a:p>
          <a:p>
            <a:r>
              <a:rPr lang="en-IN" b="1" dirty="0"/>
              <a:t>Problems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Required region may not be approved.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Deployment gets rejected.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Business operations may be delayed.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Emergency exception may be required.</a:t>
            </a:r>
          </a:p>
          <a:p>
            <a:endParaRPr lang="en-IN" b="1" dirty="0"/>
          </a:p>
          <a:p>
            <a:r>
              <a:rPr lang="en-IN" b="1" dirty="0"/>
              <a:t>Example</a:t>
            </a:r>
          </a:p>
          <a:p>
            <a:r>
              <a:rPr lang="en-IN" dirty="0"/>
              <a:t>A company allows </a:t>
            </a:r>
            <a:r>
              <a:rPr lang="en-IN" b="1" dirty="0"/>
              <a:t>East US</a:t>
            </a:r>
            <a:r>
              <a:rPr lang="en-IN" dirty="0"/>
              <a:t> and </a:t>
            </a:r>
            <a:r>
              <a:rPr lang="en-IN" b="1" dirty="0"/>
              <a:t>Central India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During an emergency, a VM is needed in </a:t>
            </a:r>
            <a:r>
              <a:rPr lang="en-IN" b="1" dirty="0"/>
              <a:t>West Europe</a:t>
            </a:r>
            <a:r>
              <a:rPr lang="en-IN" dirty="0"/>
              <a:t> → </a:t>
            </a:r>
            <a:r>
              <a:rPr lang="en-IN" b="1" dirty="0"/>
              <a:t>Policy denies the deployment.</a:t>
            </a:r>
            <a:endParaRPr lang="en-IN" dirty="0"/>
          </a:p>
          <a:p>
            <a:r>
              <a:rPr lang="en-IN" b="1" dirty="0"/>
              <a:t>Key Point</a:t>
            </a:r>
          </a:p>
          <a:p>
            <a:r>
              <a:rPr lang="en-IN" b="1" dirty="0"/>
              <a:t>Provide a controlled exception process for genuine emergencies.</a:t>
            </a:r>
            <a:endParaRPr lang="en-IN" dirty="0"/>
          </a:p>
          <a:p>
            <a:pPr algn="l">
              <a:defRPr sz="1400" b="0">
                <a:solidFill>
                  <a:srgbClr val="26323F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62F2BF8-8BBE-DB70-1E68-153FD66ADC22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838D8-1B55-E0C2-843A-E4491B5C57D8}"/>
              </a:ext>
            </a:extLst>
          </p:cNvPr>
          <p:cNvSpPr txBox="1"/>
          <p:nvPr/>
        </p:nvSpPr>
        <p:spPr>
          <a:xfrm>
            <a:off x="537411" y="513347"/>
            <a:ext cx="6144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rPr lang="en-IN" sz="2000" dirty="0"/>
              <a:t>GOVERNANCE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40145E-2700-9164-F513-D464CA5DFFC1}"/>
              </a:ext>
            </a:extLst>
          </p:cNvPr>
          <p:cNvSpPr/>
          <p:nvPr/>
        </p:nvSpPr>
        <p:spPr>
          <a:xfrm>
            <a:off x="830580" y="1223711"/>
            <a:ext cx="594360" cy="594360"/>
          </a:xfrm>
          <a:prstGeom prst="ellipse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18C384-6585-1D55-A93D-7B32864865B9}"/>
              </a:ext>
            </a:extLst>
          </p:cNvPr>
          <p:cNvSpPr txBox="1"/>
          <p:nvPr/>
        </p:nvSpPr>
        <p:spPr>
          <a:xfrm>
            <a:off x="1756611" y="1320836"/>
            <a:ext cx="6144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C1C30"/>
                </a:solidFill>
                <a:latin typeface="Aptos"/>
              </a:defRPr>
            </a:pPr>
            <a:r>
              <a:rPr lang="en-IN" sz="2000" dirty="0"/>
              <a:t>Existing resources can remain non-compliant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EF8AE-0FB1-2C30-E61E-D7FBCBD078CB}"/>
              </a:ext>
            </a:extLst>
          </p:cNvPr>
          <p:cNvSpPr txBox="1"/>
          <p:nvPr/>
        </p:nvSpPr>
        <p:spPr>
          <a:xfrm>
            <a:off x="1756610" y="1866715"/>
            <a:ext cx="948890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6323F"/>
                </a:solidFill>
                <a:latin typeface="Aptos"/>
              </a:defRPr>
            </a:pPr>
            <a:r>
              <a:rPr lang="en-IN" sz="1400" b="1" dirty="0">
                <a:solidFill>
                  <a:srgbClr val="26323F"/>
                </a:solidFill>
                <a:latin typeface="Aptos"/>
              </a:rPr>
              <a:t>Why:</a:t>
            </a:r>
            <a:r>
              <a:rPr lang="en-IN" sz="1400" dirty="0">
                <a:solidFill>
                  <a:srgbClr val="26323F"/>
                </a:solidFill>
                <a:latin typeface="Aptos"/>
              </a:rPr>
              <a:t> Resources created before the policy may already be missing required tags or configurations.</a:t>
            </a:r>
          </a:p>
          <a:p>
            <a:r>
              <a:rPr lang="en-IN" sz="1400" b="1" dirty="0"/>
              <a:t>Problems caused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Older resources may not have required tags.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Resources may exist in non-approved configurations.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Administrators must identify which resources are non-compliant.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Manually fixing hundreds of resources is time-consuming.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Non-compliant resources can continue to create governance and cost-management issues.</a:t>
            </a:r>
          </a:p>
          <a:p>
            <a:pPr lvl="0"/>
            <a:endParaRPr lang="en-IN" sz="1400" dirty="0"/>
          </a:p>
          <a:p>
            <a:r>
              <a:rPr lang="en-IN" sz="1400" b="1" dirty="0"/>
              <a:t>Small real-life example</a:t>
            </a:r>
          </a:p>
          <a:p>
            <a:r>
              <a:rPr lang="en-IN" sz="1400" b="1" dirty="0"/>
              <a:t>Example:</a:t>
            </a:r>
            <a:br>
              <a:rPr lang="en-IN" sz="1400" dirty="0"/>
            </a:br>
            <a:r>
              <a:rPr lang="en-IN" sz="1400" dirty="0"/>
              <a:t>A company already has </a:t>
            </a:r>
            <a:r>
              <a:rPr lang="en-IN" sz="1400" b="1" dirty="0"/>
              <a:t>100 Azure VMs</a:t>
            </a:r>
            <a:r>
              <a:rPr lang="en-IN" sz="1400" dirty="0"/>
              <a:t> before introducing the </a:t>
            </a:r>
            <a:r>
              <a:rPr lang="en-IN" sz="1400" dirty="0" err="1"/>
              <a:t>CostCenter</a:t>
            </a:r>
            <a:r>
              <a:rPr lang="en-IN" sz="1400" dirty="0"/>
              <a:t> policy.</a:t>
            </a:r>
            <a:br>
              <a:rPr lang="en-IN" sz="1400" dirty="0"/>
            </a:br>
            <a:r>
              <a:rPr lang="en-IN" sz="1400" dirty="0"/>
              <a:t>After the policy is assigned, </a:t>
            </a:r>
            <a:r>
              <a:rPr lang="en-IN" sz="1400" b="1" dirty="0"/>
              <a:t>20 VMs are found without a </a:t>
            </a:r>
            <a:r>
              <a:rPr lang="en-IN" b="1" dirty="0" err="1"/>
              <a:t>CostCenter</a:t>
            </a:r>
            <a:r>
              <a:rPr lang="en-IN" sz="1400" b="1" dirty="0"/>
              <a:t> tag</a:t>
            </a:r>
            <a:r>
              <a:rPr lang="en-IN" sz="1400" dirty="0"/>
              <a:t>.</a:t>
            </a:r>
            <a:br>
              <a:rPr lang="en-IN" sz="1400" dirty="0"/>
            </a:br>
            <a:r>
              <a:rPr lang="en-IN" sz="1400" dirty="0"/>
              <a:t>These 20 resources are reported as </a:t>
            </a:r>
            <a:r>
              <a:rPr lang="en-IN" sz="1400" b="1" dirty="0"/>
              <a:t>Non-Compliant</a:t>
            </a:r>
            <a:r>
              <a:rPr lang="en-IN" sz="1400" dirty="0"/>
              <a:t> and need to be corrected.</a:t>
            </a:r>
          </a:p>
          <a:p>
            <a:r>
              <a:rPr lang="en-IN" sz="1400" b="1" dirty="0"/>
              <a:t>Key takeaway</a:t>
            </a:r>
          </a:p>
          <a:p>
            <a:r>
              <a:rPr lang="en-IN" sz="1400" b="1" dirty="0"/>
              <a:t>Governance must not only prevent future violations; it must also provide a way to identify and remediate existing non-compliant resources.</a:t>
            </a:r>
            <a:endParaRPr lang="en-IN" sz="1400" dirty="0"/>
          </a:p>
          <a:p>
            <a:pPr lvl="0"/>
            <a:endParaRPr lang="en-IN" sz="1400" dirty="0"/>
          </a:p>
          <a:p>
            <a:pPr>
              <a:defRPr sz="1400" b="0">
                <a:solidFill>
                  <a:srgbClr val="26323F"/>
                </a:solidFill>
                <a:latin typeface="Aptos"/>
              </a:defRPr>
            </a:pPr>
            <a:endParaRPr lang="en-IN" sz="1400" dirty="0">
              <a:solidFill>
                <a:srgbClr val="26323F"/>
              </a:solidFill>
              <a:latin typeface="Aptos"/>
            </a:endParaRPr>
          </a:p>
          <a:p>
            <a:pPr>
              <a:defRPr sz="1400" b="0">
                <a:solidFill>
                  <a:srgbClr val="26323F"/>
                </a:solidFill>
                <a:latin typeface="Aptos"/>
              </a:defRPr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56616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06 •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How we overcome the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5074920" cy="173736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50292" cy="1737360"/>
          </a:xfrm>
          <a:prstGeom prst="rect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490472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Controlled exemption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4709159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Emergency deployment → documented reason → approval → temporary exemption → review/expiry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074920" cy="173736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50292" cy="1737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490472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Audit before Deny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4709159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Test policy impact first; identify false positives and legitimate exceptions before enforcing the hard block.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5074920" cy="173736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50292" cy="173736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Modify + remediation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4709159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Use Modify when a reliable CostCenter source exists, then remediate existing non-compliant resources.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566160"/>
            <a:ext cx="5074920" cy="1737360"/>
          </a:xfrm>
          <a:prstGeom prst="roundRect">
            <a:avLst/>
          </a:prstGeom>
          <a:solidFill>
            <a:srgbClr val="FDF6E8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566160"/>
            <a:ext cx="50292" cy="1737360"/>
          </a:xfrm>
          <a:prstGeom prst="rect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730752"/>
            <a:ext cx="47091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Parameters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60520"/>
            <a:ext cx="4709159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Keep approved regions, tag name, and allowed values configurable rather than hard-coded.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A9199F-EF05-B179-C2CD-DF4AA9040AE9}"/>
              </a:ext>
            </a:extLst>
          </p:cNvPr>
          <p:cNvSpPr txBox="1"/>
          <p:nvPr/>
        </p:nvSpPr>
        <p:spPr>
          <a:xfrm>
            <a:off x="320842" y="11887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Solution — Controlled exception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3B213D-892A-1069-8EC1-FA91F102FB22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8D580B-3C2C-F102-4E45-029FD1461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192" y="1161074"/>
            <a:ext cx="7579273" cy="45456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A732E7-5704-2615-36C3-A0B98AE5308B}"/>
              </a:ext>
            </a:extLst>
          </p:cNvPr>
          <p:cNvSpPr txBox="1"/>
          <p:nvPr/>
        </p:nvSpPr>
        <p:spPr>
          <a:xfrm>
            <a:off x="649705" y="760964"/>
            <a:ext cx="6144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Architecture: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DBD4A1-C1B7-4658-170D-F7A451138AF6}"/>
              </a:ext>
            </a:extLst>
          </p:cNvPr>
          <p:cNvSpPr txBox="1"/>
          <p:nvPr/>
        </p:nvSpPr>
        <p:spPr>
          <a:xfrm>
            <a:off x="748646" y="5958536"/>
            <a:ext cx="8941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allows governance without making governance completely inflexible.</a:t>
            </a:r>
          </a:p>
        </p:txBody>
      </p:sp>
    </p:spTree>
    <p:extLst>
      <p:ext uri="{BB962C8B-B14F-4D97-AF65-F5344CB8AC3E}">
        <p14:creationId xmlns:p14="http://schemas.microsoft.com/office/powerpoint/2010/main" val="1460297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2F38DA-BD5F-31A4-07D8-BEE54DF79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98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981600-FE55-6C2A-2F9C-E0810D687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48" y="342900"/>
            <a:ext cx="695325" cy="685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84179B-F7BE-0C3D-51BB-A95AC82C1265}"/>
              </a:ext>
            </a:extLst>
          </p:cNvPr>
          <p:cNvSpPr txBox="1"/>
          <p:nvPr/>
        </p:nvSpPr>
        <p:spPr>
          <a:xfrm>
            <a:off x="1443789" y="5011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Remediation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73CAE4-AFA1-768B-0256-241E3FADBAD6}"/>
              </a:ext>
            </a:extLst>
          </p:cNvPr>
          <p:cNvSpPr txBox="1"/>
          <p:nvPr/>
        </p:nvSpPr>
        <p:spPr>
          <a:xfrm>
            <a:off x="1556084" y="1105354"/>
            <a:ext cx="103150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Azure Policy supports remediation tasks for existing resources for policies using effects such as </a:t>
            </a:r>
            <a:r>
              <a:rPr lang="en-IN" dirty="0">
                <a:latin typeface="+mn-lt"/>
              </a:rPr>
              <a:t>Modify</a:t>
            </a:r>
            <a:r>
              <a:rPr lang="en-IN" dirty="0"/>
              <a:t> and </a:t>
            </a:r>
            <a:r>
              <a:rPr lang="en-IN" dirty="0" err="1">
                <a:latin typeface="+mn-lt"/>
              </a:rPr>
              <a:t>DeployIfNotExists</a:t>
            </a:r>
            <a:r>
              <a:rPr lang="en-IN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3AA4DF-B8DF-1E13-8730-59E73D710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345" y="1751685"/>
            <a:ext cx="7357310" cy="35894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E197D7-9502-FF8A-8208-DA65EB5329EA}"/>
              </a:ext>
            </a:extLst>
          </p:cNvPr>
          <p:cNvSpPr txBox="1"/>
          <p:nvPr/>
        </p:nvSpPr>
        <p:spPr>
          <a:xfrm>
            <a:off x="1556084" y="5614146"/>
            <a:ext cx="9304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Microsoft documents that remediation tasks use the managed identity associated with the policy assignment to make the required changes.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526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90AD5A-53B1-139B-C2DE-40883D29F1F0}"/>
              </a:ext>
            </a:extLst>
          </p:cNvPr>
          <p:cNvSpPr txBox="1"/>
          <p:nvPr/>
        </p:nvSpPr>
        <p:spPr>
          <a:xfrm>
            <a:off x="18288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Architectural Design for Our Project: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56B52-5E26-15EA-536C-BB4D9C763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2198"/>
            <a:ext cx="12192000" cy="626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443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07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Proposed Azure Policy governance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2057400" cy="960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0292" cy="960120"/>
          </a:xfrm>
          <a:prstGeom prst="rect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49047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1C30"/>
                </a:solidFill>
                <a:latin typeface="Aptos"/>
              </a:defRPr>
            </a:pPr>
            <a:r>
              <a:t>Developer / CI-CD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16916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6323F"/>
                </a:solidFill>
                <a:latin typeface="Aptos"/>
              </a:defRPr>
            </a:pPr>
            <a:r>
              <a:t>Deployment request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325880"/>
            <a:ext cx="2057400" cy="96012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26080" y="1325880"/>
            <a:ext cx="50292" cy="960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0" y="149047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1C30"/>
                </a:solidFill>
                <a:latin typeface="Aptos"/>
              </a:defRPr>
            </a:pPr>
            <a:r>
              <a:t>Azure Resource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920240"/>
            <a:ext cx="16916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6323F"/>
                </a:solidFill>
                <a:latin typeface="Aptos"/>
              </a:defRPr>
            </a:pPr>
            <a:r>
              <a:t>Create /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1325880"/>
            <a:ext cx="2057400" cy="96012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49240" y="1325880"/>
            <a:ext cx="50292" cy="96012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0" y="149047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1C30"/>
                </a:solidFill>
                <a:latin typeface="Aptos"/>
              </a:defRPr>
            </a:pPr>
            <a:r>
              <a:t>Azure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920240"/>
            <a:ext cx="16916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6323F"/>
                </a:solidFill>
                <a:latin typeface="Aptos"/>
              </a:defRPr>
            </a:pPr>
            <a:r>
              <a:t>Evaluate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325880"/>
            <a:ext cx="2057400" cy="96012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0" y="1325880"/>
            <a:ext cx="50292" cy="96012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79" y="149047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1C30"/>
                </a:solidFill>
                <a:latin typeface="Aptos"/>
              </a:defRPr>
            </a:pPr>
            <a:r>
              <a:t>Policy Effects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1920240"/>
            <a:ext cx="16916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6323F"/>
                </a:solidFill>
                <a:latin typeface="Aptos"/>
              </a:defRPr>
            </a:pPr>
            <a:r>
              <a:t>Deny / Modify / Audit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5560" y="1325880"/>
            <a:ext cx="1508760" cy="960120"/>
          </a:xfrm>
          <a:prstGeom prst="roundRect">
            <a:avLst/>
          </a:prstGeom>
          <a:solidFill>
            <a:srgbClr val="FDF6E8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195560" y="1325880"/>
            <a:ext cx="50292" cy="960120"/>
          </a:xfrm>
          <a:prstGeom prst="rect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78440" y="1490472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0C1C30"/>
                </a:solidFill>
                <a:latin typeface="Aptos"/>
              </a:defRPr>
            </a:pPr>
            <a:r>
              <a:t>Azure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1920240"/>
            <a:ext cx="1143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6323F"/>
                </a:solidFill>
                <a:latin typeface="Aptos"/>
              </a:defRPr>
            </a:pPr>
            <a:r>
              <a:t>Resources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560320" y="1810512"/>
            <a:ext cx="365759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83480" y="1810512"/>
            <a:ext cx="36576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06640" y="1810512"/>
            <a:ext cx="36576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29800" y="1810512"/>
            <a:ext cx="36576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5800" y="3063240"/>
            <a:ext cx="2743200" cy="1143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3063240"/>
            <a:ext cx="50292" cy="1143000"/>
          </a:xfrm>
          <a:prstGeom prst="rect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322783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Governance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657600"/>
            <a:ext cx="237744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Management Group / Subscription / Resource Group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03320" y="3063240"/>
            <a:ext cx="2743200" cy="114300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703320" y="3063240"/>
            <a:ext cx="50292" cy="1143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86200" y="322783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6200" y="3657600"/>
            <a:ext cx="237744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Compliant / Non-compliant resources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3063240"/>
            <a:ext cx="2743200" cy="114300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720840" y="3063240"/>
            <a:ext cx="50292" cy="114300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03720" y="322783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Remediation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3657600"/>
            <a:ext cx="237744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Managed Identity + RBAC permissions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38360" y="3063240"/>
            <a:ext cx="1783080" cy="1143000"/>
          </a:xfrm>
          <a:prstGeom prst="roundRect">
            <a:avLst/>
          </a:prstGeom>
          <a:solidFill>
            <a:srgbClr val="FDF6E8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738360" y="3063240"/>
            <a:ext cx="50292" cy="1143000"/>
          </a:xfrm>
          <a:prstGeom prst="rect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921240" y="3227832"/>
            <a:ext cx="14173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3657600"/>
            <a:ext cx="1417319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6323F"/>
                </a:solidFill>
                <a:latin typeface="Aptos"/>
              </a:defRPr>
            </a:pPr>
            <a:r>
              <a:t>Admin review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5074920" y="2286000"/>
            <a:ext cx="1298448" cy="77724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092440" y="2286000"/>
            <a:ext cx="1051560" cy="77724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464040" y="3639312"/>
            <a:ext cx="274320" cy="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446520" y="3639312"/>
            <a:ext cx="274320" cy="0"/>
          </a:xfrm>
          <a:prstGeom prst="line">
            <a:avLst/>
          </a:prstGeom>
          <a:ln w="1905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31520" y="48006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Aptos"/>
              </a:defRPr>
            </a:pPr>
            <a:r>
              <a:t>Core request path</a:t>
            </a:r>
          </a:p>
        </p:txBody>
      </p:sp>
      <p:sp>
        <p:nvSpPr>
          <p:cNvPr id="54" name="Oval 53"/>
          <p:cNvSpPr/>
          <p:nvPr/>
        </p:nvSpPr>
        <p:spPr>
          <a:xfrm>
            <a:off x="914400" y="530352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54480" y="529437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Request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063240" y="5559552"/>
            <a:ext cx="54864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3703320" y="530352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3400" y="529437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Evaluate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852160" y="5559552"/>
            <a:ext cx="54864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492240" y="530352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529437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Enforce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641080" y="5559552"/>
            <a:ext cx="548640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9281159" y="5303520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21239" y="529437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Govern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08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What each component actually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234440"/>
            <a:ext cx="411480" cy="411480"/>
          </a:xfrm>
          <a:prstGeom prst="ellipse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216152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Developer / CI-CD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197864"/>
            <a:ext cx="7452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Initiates the deployment request through portal, CLI, IaC or pipeline.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029968"/>
            <a:ext cx="411480" cy="4114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01168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Azure Resource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993392"/>
            <a:ext cx="7452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Receives the resource deployment/update request.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825496"/>
            <a:ext cx="411480" cy="411480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07208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Azure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788920"/>
            <a:ext cx="7452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Evaluates resource properties against assigned definitions.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621024"/>
            <a:ext cx="411480" cy="411480"/>
          </a:xfrm>
          <a:prstGeom prst="ellipse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602736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Policy Effect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584448"/>
            <a:ext cx="7452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Decides the action: allow, deny, audit, modify or deploy supporting configuration.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416552"/>
            <a:ext cx="411480" cy="411480"/>
          </a:xfrm>
          <a:prstGeom prst="ellipse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398264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379976"/>
            <a:ext cx="7452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Records the governance state so administrators can see violations.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5212079"/>
            <a:ext cx="411480" cy="411480"/>
          </a:xfrm>
          <a:prstGeom prst="ellipse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193792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Remediation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5175503"/>
            <a:ext cx="7452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Corrects applicable existing violations using the policy assignment identity and permissions.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09 • POLICY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Conceptual policy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5394960" cy="4251960"/>
          </a:xfrm>
          <a:prstGeom prst="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5544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BCF2"/>
                </a:solidFill>
                <a:latin typeface="Aptos"/>
              </a:defRPr>
            </a:pPr>
            <a:r>
              <a:t>POLICY A  /  ALLOWED LOCATIONS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4800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IF</a:t>
            </a:r>
            <a:br/>
            <a:r>
              <a:t>  resource.location</a:t>
            </a:r>
            <a:br/>
            <a:r>
              <a:t>  NOT IN allowedLocations</a:t>
            </a:r>
            <a:br/>
            <a:br/>
            <a:r>
              <a:t>THEN</a:t>
            </a:r>
            <a:br/>
            <a:r>
              <a:t>  effect = Deny</a:t>
            </a:r>
            <a:br/>
            <a:br/>
            <a:r>
              <a:t>Parameter</a:t>
            </a:r>
            <a:br/>
            <a:r>
              <a:t>  allowedLocations = [approved regions]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5394960" cy="4251960"/>
          </a:xfrm>
          <a:prstGeom prst="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5544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BCF2"/>
                </a:solidFill>
                <a:latin typeface="Aptos"/>
              </a:defRPr>
            </a:pPr>
            <a:r>
              <a:t>POLICY B  /  COSTCENTER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4800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0">
                <a:solidFill>
                  <a:srgbClr val="FFFFFF"/>
                </a:solidFill>
                <a:latin typeface="Aptos"/>
              </a:defRPr>
            </a:pPr>
            <a:r>
              <a:t>IF</a:t>
            </a:r>
            <a:br/>
            <a:r>
              <a:t>  CostCenter is missing</a:t>
            </a:r>
            <a:br/>
            <a:r>
              <a:t>  OR value is invalid</a:t>
            </a:r>
            <a:br/>
            <a:br/>
            <a:r>
              <a:t>THEN</a:t>
            </a:r>
            <a:br/>
            <a:r>
              <a:t>  Modify  → trusted value</a:t>
            </a:r>
            <a:br/>
            <a:r>
              <a:t>  OR</a:t>
            </a:r>
            <a:br/>
            <a:r>
              <a:t>  Deny    → require valid value</a:t>
            </a:r>
            <a:br/>
            <a:br/>
            <a:r>
              <a:t>Parameter</a:t>
            </a:r>
            <a:br/>
            <a:r>
              <a:t>  tagName = CostCenter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5806440"/>
            <a:ext cx="3246120" cy="310896"/>
          </a:xfrm>
          <a:prstGeom prst="roundRect">
            <a:avLst/>
          </a:prstGeom>
          <a:solidFill>
            <a:srgbClr val="EB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5824727"/>
            <a:ext cx="3246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078D4"/>
                </a:solidFill>
                <a:latin typeface="Aptos"/>
              </a:defRPr>
            </a:pPr>
            <a:r>
              <a:t>PARAMETERIZED • REUSABLE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10 •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How the solution behaves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828800"/>
            <a:ext cx="621792" cy="621792"/>
          </a:xfrm>
          <a:prstGeom prst="ellipse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6517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C1C30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91439" y="3154680"/>
            <a:ext cx="1783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23F"/>
                </a:solidFill>
                <a:latin typeface="Aptos"/>
              </a:defRPr>
            </a:pPr>
            <a:r>
              <a:t>Developer creates or updates a resource.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24712" y="2139696"/>
            <a:ext cx="1709927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834639" y="1828800"/>
            <a:ext cx="621792" cy="62179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517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C1C30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79" y="3154680"/>
            <a:ext cx="1783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23F"/>
                </a:solidFill>
                <a:latin typeface="Aptos"/>
              </a:defRPr>
            </a:pPr>
            <a:r>
              <a:t>Azure Policy checks location and CostCenter.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56432" y="2139696"/>
            <a:ext cx="1709927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166359" y="1828800"/>
            <a:ext cx="621792" cy="621792"/>
          </a:xfrm>
          <a:prstGeom prst="ellipse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6517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C1C30"/>
                </a:solidFill>
                <a:latin typeface="Aptos"/>
              </a:defRPr>
            </a:pPr>
            <a:r>
              <a:t>Enforce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154680"/>
            <a:ext cx="1783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23F"/>
                </a:solidFill>
                <a:latin typeface="Aptos"/>
              </a:defRPr>
            </a:pPr>
            <a:r>
              <a:t>Deny blocks invalid requests; Modify corrects supported properties.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88151" y="2139696"/>
            <a:ext cx="1709928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98079" y="1828800"/>
            <a:ext cx="621792" cy="621792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26517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C1C30"/>
                </a:solidFill>
                <a:latin typeface="Aptos"/>
              </a:defRPr>
            </a:pPr>
            <a:r>
              <a:t>Comply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19" y="3154680"/>
            <a:ext cx="1783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23F"/>
                </a:solidFill>
                <a:latin typeface="Aptos"/>
              </a:defRPr>
            </a:pPr>
            <a:r>
              <a:t>Resource appears as compliant when requirements are satisfied.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19871" y="2139696"/>
            <a:ext cx="1709929" cy="0"/>
          </a:xfrm>
          <a:prstGeom prst="line">
            <a:avLst/>
          </a:prstGeom>
          <a:ln w="254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829800" y="1828800"/>
            <a:ext cx="621792" cy="621792"/>
          </a:xfrm>
          <a:prstGeom prst="ellipse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6517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C1C30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154680"/>
            <a:ext cx="1783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23F"/>
                </a:solidFill>
                <a:latin typeface="Aptos"/>
              </a:defRPr>
            </a:pPr>
            <a:r>
              <a:t>Existing violations are fixed through supported remediation tasks.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754880"/>
            <a:ext cx="9875520" cy="91440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4754880"/>
            <a:ext cx="50292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25880" y="4919472"/>
            <a:ext cx="9509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C1C30"/>
                </a:solidFill>
                <a:latin typeface="Aptos"/>
              </a:defRPr>
            </a:pPr>
            <a:r>
              <a:t>Key design principle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349240"/>
            <a:ext cx="95097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Prevent new violations where possible; make existing violations visible and fixable; keep legitimate exceptions controlled and auditable.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11 •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Suggested 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3429000" cy="16459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234440"/>
            <a:ext cx="50292" cy="1645920"/>
          </a:xfrm>
          <a:prstGeom prst="rect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13990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PHASE 1</a:t>
            </a:r>
            <a:br/>
            <a:r>
              <a:t>Define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828800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Approved regions • CostCenter format • exception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34440"/>
            <a:ext cx="3429000" cy="164592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234440"/>
            <a:ext cx="50292" cy="1645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3990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PHASE 2</a:t>
            </a:r>
            <a:br/>
            <a: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828800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Create policies • parameters • initiative • assignments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234440"/>
            <a:ext cx="3429000" cy="164592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234440"/>
            <a:ext cx="50292" cy="164592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3990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PHASE 3</a:t>
            </a:r>
            <a:br/>
            <a: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828800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Audit mode • test resources • inspect false positives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83280"/>
            <a:ext cx="3429000" cy="1645920"/>
          </a:xfrm>
          <a:prstGeom prst="roundRect">
            <a:avLst/>
          </a:prstGeom>
          <a:solidFill>
            <a:srgbClr val="FDF6E8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383280"/>
            <a:ext cx="50292" cy="1645920"/>
          </a:xfrm>
          <a:prstGeom prst="rect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35478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PHASE 4</a:t>
            </a:r>
            <a:br/>
            <a:r>
              <a:t>Enforce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977640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Move appropriate controls to Deny / Modify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383280"/>
            <a:ext cx="3429000" cy="164592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3383280"/>
            <a:ext cx="50292" cy="1645920"/>
          </a:xfrm>
          <a:prstGeom prst="rect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35478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PHASE 5</a:t>
            </a:r>
            <a:br/>
            <a:r>
              <a:t>Remediate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977640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Identify existing violations • run remediation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383280"/>
            <a:ext cx="3429000" cy="164592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3383280"/>
            <a:ext cx="50292" cy="164592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35478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C1C30"/>
                </a:solidFill>
                <a:latin typeface="Aptos"/>
              </a:defRPr>
            </a:pPr>
            <a:r>
              <a:t>PHASE 6</a:t>
            </a:r>
            <a:br/>
            <a:r>
              <a:t>Operate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977640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23F"/>
                </a:solidFill>
                <a:latin typeface="Aptos"/>
              </a:defRPr>
            </a:pPr>
            <a:r>
              <a:t>Compliance review • exception review • policy change control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14 •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What the project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3474720" cy="169164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50292" cy="1691640"/>
          </a:xfrm>
          <a:prstGeom prst="rect">
            <a:avLst/>
          </a:prstGeom>
          <a:solidFill>
            <a:srgbClr val="D2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Prevent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31089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Unauthorized regions are blocked before deployment.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234440"/>
            <a:ext cx="3474720" cy="1691640"/>
          </a:xfrm>
          <a:prstGeom prst="roundRect">
            <a:avLst/>
          </a:prstGeom>
          <a:solidFill>
            <a:srgbClr val="EBF8F0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234440"/>
            <a:ext cx="50292" cy="1691640"/>
          </a:xfrm>
          <a:prstGeom prst="rect">
            <a:avLst/>
          </a:prstGeom>
          <a:solidFill>
            <a:srgbClr val="2D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Standardize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828800"/>
            <a:ext cx="31089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CostCenter metadata follows a defined governance rule.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234440"/>
            <a:ext cx="3474720" cy="169164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234440"/>
            <a:ext cx="50292" cy="1691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1399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1828800"/>
            <a:ext cx="31089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Compliance state is visible to administrators.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83280"/>
            <a:ext cx="3474720" cy="1691640"/>
          </a:xfrm>
          <a:prstGeom prst="roundRect">
            <a:avLst/>
          </a:prstGeom>
          <a:solidFill>
            <a:srgbClr val="FDF6E8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383280"/>
            <a:ext cx="50292" cy="1691640"/>
          </a:xfrm>
          <a:prstGeom prst="rect">
            <a:avLst/>
          </a:prstGeom>
          <a:solidFill>
            <a:srgbClr val="EC9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5478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977640"/>
            <a:ext cx="31089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Applicable existing violations can be corrected.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383280"/>
            <a:ext cx="3474720" cy="16916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3383280"/>
            <a:ext cx="50292" cy="1691640"/>
          </a:xfrm>
          <a:prstGeom prst="rect">
            <a:avLst/>
          </a:prstGeom>
          <a:solidFill>
            <a:srgbClr val="14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17720" y="35478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977640"/>
            <a:ext cx="31089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Exceptions become controlled, documented and reviewable.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383280"/>
            <a:ext cx="3474720" cy="1691640"/>
          </a:xfrm>
          <a:prstGeom prst="roundRect">
            <a:avLst/>
          </a:prstGeom>
          <a:solidFill>
            <a:srgbClr val="EBF5FD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75320" y="3383280"/>
            <a:ext cx="50292" cy="169164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35478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C1C30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977640"/>
            <a:ext cx="310896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6323F"/>
                </a:solidFill>
                <a:latin typeface="Aptos"/>
              </a:defRPr>
            </a:pPr>
            <a:r>
              <a:t>The same governance model can be applied across scopes.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76072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0C1C30"/>
                </a:solidFill>
                <a:latin typeface="Aptos"/>
              </a:defRPr>
            </a:pPr>
            <a:r>
              <a:t>Prevent  →  Detect  →  Remediate  →  Govern at scale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8D4"/>
                </a:solidFill>
                <a:latin typeface="Aptos"/>
              </a:defRPr>
            </a:pPr>
            <a:r>
              <a:t>15 •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0C1C30"/>
                </a:solidFill>
                <a:latin typeface="Aptos"/>
              </a:defRPr>
            </a:pPr>
            <a:r>
              <a:t>One-line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77482"/>
                </a:solidFill>
                <a:latin typeface="Aptos"/>
              </a:defRPr>
            </a:pPr>
            <a: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016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77482"/>
                </a:solidFill>
                <a:latin typeface="Aptos"/>
              </a:defRPr>
            </a:pPr>
            <a:r>
              <a:t>Azure Policy Governance •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77482"/>
                </a:solidFill>
                <a:latin typeface="Aptos"/>
              </a:defRPr>
            </a:pPr>
            <a:r>
              <a:t>KL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10744200" cy="2926080"/>
          </a:xfrm>
          <a:prstGeom prst="roundRect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2011680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“Govern Azure resources by policy —</a:t>
            </a:r>
            <a:br/>
            <a:r>
              <a:t>not by manual inspection.”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54680"/>
            <a:ext cx="9326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BED5E8"/>
                </a:solidFill>
                <a:latin typeface="Aptos"/>
              </a:defRPr>
            </a:pPr>
            <a:r>
              <a:t>Control regions • enforce CostCenter • expose compliance • remediate violations • manage exceptions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8119" y="4766917"/>
            <a:ext cx="4404360" cy="582323"/>
          </a:xfrm>
          <a:prstGeom prst="roundRect">
            <a:avLst/>
          </a:prstGeom>
          <a:solidFill>
            <a:srgbClr val="1B3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4910327"/>
            <a:ext cx="3794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0BCF2"/>
                </a:solidFill>
                <a:latin typeface="Aptos"/>
              </a:defRPr>
            </a:pPr>
            <a:r>
              <a:rPr sz="1600" dirty="0"/>
              <a:t>AZURE POLICY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5623560"/>
            <a:ext cx="46634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C1C30"/>
                </a:solidFill>
                <a:latin typeface="Aptos"/>
              </a:defRPr>
            </a:pPr>
            <a:r>
              <a:rPr sz="3600" dirty="0"/>
              <a:t>Thank you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1399</Words>
  <Application>Microsoft Office PowerPoint</Application>
  <PresentationFormat>Widescreen</PresentationFormat>
  <Paragraphs>271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PALEPU CHANIKYA VENKATA SIVA SRI</cp:lastModifiedBy>
  <cp:revision>3</cp:revision>
  <dcterms:created xsi:type="dcterms:W3CDTF">2013-01-27T09:14:16Z</dcterms:created>
  <dcterms:modified xsi:type="dcterms:W3CDTF">2026-09-26T17:16:22Z</dcterms:modified>
  <cp:category/>
</cp:coreProperties>
</file>